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2DE8F0F7-62ED-B644-2591-62819C739910}">
          <p14:sldIdLst>
            <p14:sldId id="256"/>
          </p14:sldIdLst>
        </p14:section>
        <p14:section name="Introduction" id="{B6723D3F-8BDC-2B4E-ADE8-4F5D71DAD5A0}">
          <p14:sldIdLst>
            <p14:sldId id="257"/>
          </p14:sldIdLst>
        </p14:section>
        <p14:section name="Findings" id="{835ED509-5232-16AF-BFE0-76FB6AEFF65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clusion" id="{BBF3DC6D-A1D6-3D84-29A3-E809F15D4BCF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Who buys? Share of sales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6E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61-4594-B9EC-F18869DB99C6}"/>
              </c:ext>
            </c:extLst>
          </c:dPt>
          <c:dPt>
            <c:idx val="1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61-4594-B9EC-F18869DB99C6}"/>
              </c:ext>
            </c:extLst>
          </c:dPt>
          <c:dPt>
            <c:idx val="2"/>
            <c:bubble3D val="0"/>
            <c:spPr>
              <a:solidFill>
                <a:srgbClr val="3F7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61-4594-B9EC-F18869DB99C6}"/>
              </c:ext>
            </c:extLst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61-4594-B9EC-F18869DB99C6}"/>
                </c:ext>
              </c:extLst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61-4594-B9EC-F18869DB99C6}"/>
                </c:ext>
              </c:extLst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61-4594-B9EC-F18869DB99C6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50.6</c:v>
                </c:pt>
                <c:pt idx="1">
                  <c:v>30.7</c:v>
                </c:pt>
                <c:pt idx="2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F61-4594-B9EC-F18869DB99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Sales and profit by year ($ thousand)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E6E7E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484.2</c:v>
                </c:pt>
                <c:pt idx="1">
                  <c:v>470.5</c:v>
                </c:pt>
                <c:pt idx="2">
                  <c:v>608.5</c:v>
                </c:pt>
                <c:pt idx="3">
                  <c:v>733.9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5-4E70-B848-5101987EED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49.5</c:v>
                </c:pt>
                <c:pt idx="1">
                  <c:v>61.6</c:v>
                </c:pt>
                <c:pt idx="2">
                  <c:v>81.7</c:v>
                </c:pt>
                <c:pt idx="3">
                  <c:v>93.5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B5-4E70-B848-5101987EED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Sales by month, all years ($ thousand)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E6E7E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95.4</c:v>
                </c:pt>
                <c:pt idx="1">
                  <c:v>60.2</c:v>
                </c:pt>
                <c:pt idx="2">
                  <c:v>199.3</c:v>
                </c:pt>
                <c:pt idx="3">
                  <c:v>141.9</c:v>
                </c:pt>
                <c:pt idx="4">
                  <c:v>156.1</c:v>
                </c:pt>
                <c:pt idx="5">
                  <c:v>147.1</c:v>
                </c:pt>
                <c:pt idx="6">
                  <c:v>149.6</c:v>
                </c:pt>
                <c:pt idx="7">
                  <c:v>159.6</c:v>
                </c:pt>
                <c:pt idx="8">
                  <c:v>309.8</c:v>
                </c:pt>
                <c:pt idx="9">
                  <c:v>197.1</c:v>
                </c:pt>
                <c:pt idx="10">
                  <c:v>349.1</c:v>
                </c:pt>
                <c:pt idx="11">
                  <c:v>332.2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66-4C27-A02A-D6CB698DE2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Sales and profit by region ($ thousand)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E6E7E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725.5</c:v>
                </c:pt>
                <c:pt idx="1">
                  <c:v>678.8</c:v>
                </c:pt>
                <c:pt idx="2">
                  <c:v>501.2</c:v>
                </c:pt>
                <c:pt idx="3">
                  <c:v>391.7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35-4114-BADE-457491512E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Central</c:v>
                </c:pt>
                <c:pt idx="3">
                  <c:v>South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108.4</c:v>
                </c:pt>
                <c:pt idx="1">
                  <c:v>91.5</c:v>
                </c:pt>
                <c:pt idx="2">
                  <c:v>39.700000000000003</c:v>
                </c:pt>
                <c:pt idx="3">
                  <c:v>46.7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35-4114-BADE-457491512E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Sales and profit by category ($ thousand)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E6E7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836.2</c:v>
                </c:pt>
                <c:pt idx="1">
                  <c:v>742</c:v>
                </c:pt>
                <c:pt idx="2">
                  <c:v>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FD-4A53-AFE6-7D54BEFD3C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Furniture</c:v>
                </c:pt>
                <c:pt idx="2">
                  <c:v>Office Supplies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145.5</c:v>
                </c:pt>
                <c:pt idx="1">
                  <c:v>18.5</c:v>
                </c:pt>
                <c:pt idx="2">
                  <c:v>122.5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FD-4A53-AFE6-7D54BEFD3C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IN" sz="1300" b="0" i="0" u="none" strike="noStrike">
                <a:solidFill>
                  <a:srgbClr val="0B3C49"/>
                </a:solidFill>
                <a:latin typeface="+mn-lt"/>
              </a:rPr>
              <a:t>Profit by sub-category ($ thousand)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E6E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D0-4CA7-B18C-3829D7806BE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1D0-4CA7-B18C-3829D7806BE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1D0-4CA7-B18C-3829D7806BE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1D0-4CA7-B18C-3829D7806BE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1D0-4CA7-B18C-3829D7806BE6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1D0-4CA7-B18C-3829D7806BE6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1D0-4CA7-B18C-3829D7806BE6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1D0-4CA7-B18C-3829D7806BE6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01D0-4CA7-B18C-3829D7806BE6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01D0-4CA7-B18C-3829D7806BE6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01D0-4CA7-B18C-3829D7806BE6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01D0-4CA7-B18C-3829D7806BE6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01D0-4CA7-B18C-3829D7806BE6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01D0-4CA7-B18C-3829D7806BE6}"/>
              </c:ext>
            </c:extLst>
          </c:dPt>
          <c:dPt>
            <c:idx val="14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01D0-4CA7-B18C-3829D7806BE6}"/>
              </c:ext>
            </c:extLst>
          </c:dPt>
          <c:dPt>
            <c:idx val="15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01D0-4CA7-B18C-3829D7806BE6}"/>
              </c:ext>
            </c:extLst>
          </c:dPt>
          <c:dPt>
            <c:idx val="16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01D0-4CA7-B18C-3829D7806BE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Copiers</c:v>
                </c:pt>
                <c:pt idx="1">
                  <c:v>Phones</c:v>
                </c:pt>
                <c:pt idx="2">
                  <c:v>Accessories</c:v>
                </c:pt>
                <c:pt idx="3">
                  <c:v>Paper</c:v>
                </c:pt>
                <c:pt idx="4">
                  <c:v>Binders</c:v>
                </c:pt>
                <c:pt idx="5">
                  <c:v>Chairs</c:v>
                </c:pt>
                <c:pt idx="6">
                  <c:v>Storage</c:v>
                </c:pt>
                <c:pt idx="7">
                  <c:v>Appliances</c:v>
                </c:pt>
                <c:pt idx="8">
                  <c:v>Furnishings</c:v>
                </c:pt>
                <c:pt idx="9">
                  <c:v>Envelopes</c:v>
                </c:pt>
                <c:pt idx="10">
                  <c:v>Art</c:v>
                </c:pt>
                <c:pt idx="11">
                  <c:v>Labels</c:v>
                </c:pt>
                <c:pt idx="12">
                  <c:v>Machines</c:v>
                </c:pt>
                <c:pt idx="13">
                  <c:v>Fasteners</c:v>
                </c:pt>
                <c:pt idx="14">
                  <c:v>Supplies</c:v>
                </c:pt>
                <c:pt idx="15">
                  <c:v>Bookcases</c:v>
                </c:pt>
                <c:pt idx="16">
                  <c:v>Tables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55.6</c:v>
                </c:pt>
                <c:pt idx="1">
                  <c:v>44.5</c:v>
                </c:pt>
                <c:pt idx="2">
                  <c:v>41.9</c:v>
                </c:pt>
                <c:pt idx="3">
                  <c:v>34.1</c:v>
                </c:pt>
                <c:pt idx="4">
                  <c:v>30.2</c:v>
                </c:pt>
                <c:pt idx="5">
                  <c:v>26.6</c:v>
                </c:pt>
                <c:pt idx="6">
                  <c:v>21.3</c:v>
                </c:pt>
                <c:pt idx="7">
                  <c:v>18.100000000000001</c:v>
                </c:pt>
                <c:pt idx="8">
                  <c:v>13.1</c:v>
                </c:pt>
                <c:pt idx="9">
                  <c:v>7</c:v>
                </c:pt>
                <c:pt idx="10">
                  <c:v>6.5</c:v>
                </c:pt>
                <c:pt idx="11">
                  <c:v>5.5</c:v>
                </c:pt>
                <c:pt idx="12">
                  <c:v>3.4</c:v>
                </c:pt>
                <c:pt idx="13">
                  <c:v>0.9</c:v>
                </c:pt>
                <c:pt idx="14">
                  <c:v>-1.2</c:v>
                </c:pt>
                <c:pt idx="15">
                  <c:v>-3.5</c:v>
                </c:pt>
                <c:pt idx="16">
                  <c:v>-17.7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01D0-4CA7-B18C-3829D7806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lang="en-US" sz="1300" b="0" i="0" u="none" strike="noStrike">
                <a:solidFill>
                  <a:srgbClr val="0B3C49"/>
                </a:solidFill>
                <a:latin typeface="+mn-lt"/>
              </a:rPr>
              <a:t>Total profit by discount level ($ thousand)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E6E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1C6-400E-9A76-8C05F89B37F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1C6-400E-9A76-8C05F89B37FA}"/>
              </c:ext>
            </c:extLst>
          </c:dPt>
          <c:dPt>
            <c:idx val="2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C6-400E-9A76-8C05F89B37FA}"/>
              </c:ext>
            </c:extLst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C6-400E-9A76-8C05F89B37FA}"/>
              </c:ext>
            </c:extLst>
          </c:dPt>
          <c:dPt>
            <c:idx val="4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1C6-400E-9A76-8C05F89B37F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 discount</c:v>
                </c:pt>
                <c:pt idx="1">
                  <c:v>1 to 20%</c:v>
                </c:pt>
                <c:pt idx="2">
                  <c:v>21 to 40%</c:v>
                </c:pt>
                <c:pt idx="3">
                  <c:v>41 to 60%</c:v>
                </c:pt>
                <c:pt idx="4">
                  <c:v>61 to 80%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321</c:v>
                </c:pt>
                <c:pt idx="1">
                  <c:v>100.8</c:v>
                </c:pt>
                <c:pt idx="2">
                  <c:v>-35.799999999999997</c:v>
                </c:pt>
                <c:pt idx="3">
                  <c:v>-28.9</c:v>
                </c:pt>
                <c:pt idx="4">
                  <c:v>-70.599999999999994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1C6-400E-9A76-8C05F89B37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3C49"/>
                </a:solidFill>
                <a:latin typeface="+mn-lt"/>
              </a:rPr>
              <a:t>Best 4 and worst 6 states by profit ($ thousand)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E6E7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10-4078-BE0B-355595CFBFD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810-4078-BE0B-355595CFBFD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810-4078-BE0B-355595CFBFD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810-4078-BE0B-355595CFBFD9}"/>
              </c:ext>
            </c:extLst>
          </c:dPt>
          <c:dPt>
            <c:idx val="4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10-4078-BE0B-355595CFBFD9}"/>
              </c:ext>
            </c:extLst>
          </c:dPt>
          <c:dPt>
            <c:idx val="5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810-4078-BE0B-355595CFBFD9}"/>
              </c:ext>
            </c:extLst>
          </c:dPt>
          <c:dPt>
            <c:idx val="6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810-4078-BE0B-355595CFBFD9}"/>
              </c:ext>
            </c:extLst>
          </c:dPt>
          <c:dPt>
            <c:idx val="7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810-4078-BE0B-355595CFBFD9}"/>
              </c:ext>
            </c:extLst>
          </c:dPt>
          <c:dPt>
            <c:idx val="8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810-4078-BE0B-355595CFBFD9}"/>
              </c:ext>
            </c:extLst>
          </c:dPt>
          <c:dPt>
            <c:idx val="9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810-4078-BE0B-355595CFBFD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California</c:v>
                </c:pt>
                <c:pt idx="1">
                  <c:v>New York</c:v>
                </c:pt>
                <c:pt idx="2">
                  <c:v>Washington</c:v>
                </c:pt>
                <c:pt idx="3">
                  <c:v>Michigan</c:v>
                </c:pt>
                <c:pt idx="4">
                  <c:v>Colorado</c:v>
                </c:pt>
                <c:pt idx="5">
                  <c:v>North Carolina</c:v>
                </c:pt>
                <c:pt idx="6">
                  <c:v>Illinois</c:v>
                </c:pt>
                <c:pt idx="7">
                  <c:v>Pennsylvania</c:v>
                </c:pt>
                <c:pt idx="8">
                  <c:v>Ohio</c:v>
                </c:pt>
                <c:pt idx="9">
                  <c:v>Texas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76.400000000000006</c:v>
                </c:pt>
                <c:pt idx="1">
                  <c:v>74</c:v>
                </c:pt>
                <c:pt idx="2">
                  <c:v>33.4</c:v>
                </c:pt>
                <c:pt idx="3">
                  <c:v>24.5</c:v>
                </c:pt>
                <c:pt idx="4">
                  <c:v>-6.5</c:v>
                </c:pt>
                <c:pt idx="5">
                  <c:v>-7.5</c:v>
                </c:pt>
                <c:pt idx="6">
                  <c:v>-12.6</c:v>
                </c:pt>
                <c:pt idx="7">
                  <c:v>-15.6</c:v>
                </c:pt>
                <c:pt idx="8">
                  <c:v>-17</c:v>
                </c:pt>
                <c:pt idx="9">
                  <c:v>-25.7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810-4078-BE0B-355595CFBF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73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We are Kailash Choudhary, Ankit Bagel and Mahendra Singh Rajput. Our project studies four years of sales data from a retail superstore.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to find what drives and drains profit. Data: the Superstore sheet with nearly 10,000 order lines. How: collect, summarise with pivot tables, then visualise.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sales $2.30 million, profit $286 thousand, margin 12.5 percent. Consumers are half of all sales, Corporate 31 percent, Home Office 19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news first: sales rose every year since 2012 and profit grew faster than sales, so we are getting better at earning from each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peak in September, November and December. Stock and staff planning should follow this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West and East are our strongest regions. Central sells well but earns the least from each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Furniture sells almost as much as Technology but earns about eight times less profit. That is the first warning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sub-categories lose money: Tables, Bookcases and Supplies. Copiers are tiny in volume but the biggest profit maker.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finding. Up to 20 percent discount still earns money. Beyond 20 percent, we lose $135 thousand. Deep discounts of 70 to 80 percent alone lose $70 thousand.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losing states are not weak in sales. They are weak in profit because the average discount there is 33 to 39 percent, versus 7 percent in California.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simple actions: limit discounts, fix Furniture, promote high-margin products, and prepare for the busy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9659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Project Parivartan  |  Sales &amp; Profit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/>
              <a:t>Super Store Sales Analysis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965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Why does a store with $2.3 million in sales earn only 12.5% profit? A sales and profit study, 2011 to 2014</a:t>
            </a:r>
            <a:endParaRPr lang="en-US" sz="2000" dirty="0"/>
          </a:p>
        </p:txBody>
      </p:sp>
      <p:sp>
        <p:nvSpPr>
          <p:cNvPr id="4" name="Presented by label"/>
          <p:cNvSpPr txBox="1"/>
          <p:nvPr/>
        </p:nvSpPr>
        <p:spPr>
          <a:xfrm>
            <a:off x="5486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5" name="Name card 1"/>
          <p:cNvSpPr/>
          <p:nvPr/>
        </p:nvSpPr>
        <p:spPr>
          <a:xfrm>
            <a:off x="548640" y="333756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Avatar 1"/>
          <p:cNvSpPr/>
          <p:nvPr/>
        </p:nvSpPr>
        <p:spPr>
          <a:xfrm>
            <a:off x="704088" y="3538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0" descr="Pers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648456"/>
            <a:ext cx="237744" cy="237744"/>
          </a:xfrm>
          <a:prstGeom prst="rect">
            <a:avLst/>
          </a:prstGeom>
        </p:spPr>
      </p:pic>
      <p:sp>
        <p:nvSpPr>
          <p:cNvPr id="8" name="Name 1"/>
          <p:cNvSpPr txBox="1"/>
          <p:nvPr/>
        </p:nvSpPr>
        <p:spPr>
          <a:xfrm>
            <a:off x="1152144" y="3360420"/>
            <a:ext cx="18499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 Mahendra Singh       Rathore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Why this project? How did we do it?</a:t>
            </a:r>
            <a:endParaRPr lang="en-US" sz="3200" dirty="0"/>
          </a:p>
        </p:txBody>
      </p:sp>
      <p:sp>
        <p:nvSpPr>
          <p:cNvPr id="3" name="Why card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Question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2984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WHY?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store sells a lot, but does it earn well? We wanted to find what grows profit and what drains it.</a:t>
            </a:r>
            <a:endParaRPr lang="en-US" sz="1400" dirty="0"/>
          </a:p>
        </p:txBody>
      </p:sp>
      <p:sp>
        <p:nvSpPr>
          <p:cNvPr id="7" name="Data card"/>
          <p:cNvSpPr/>
          <p:nvPr/>
        </p:nvSpPr>
        <p:spPr>
          <a:xfrm>
            <a:off x="457200" y="283464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1" descr="Databas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29443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WHAT DATA?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3832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9,994 order lines from 5,009 orders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793 customers in 4 regions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categories, 17 sub-categories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Years covered: 2011 to 2014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846320" y="1188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HOW?</a:t>
            </a:r>
            <a:endParaRPr lang="en-US" sz="2200" dirty="0"/>
          </a:p>
        </p:txBody>
      </p:sp>
      <p:sp>
        <p:nvSpPr>
          <p:cNvPr id="12" name="Step circle 1"/>
          <p:cNvSpPr/>
          <p:nvPr/>
        </p:nvSpPr>
        <p:spPr>
          <a:xfrm>
            <a:off x="4846320" y="180136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2" descr="1. Collec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96596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6928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Collect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66928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Gathered all sales records in one Excel sheet.</a:t>
            </a:r>
            <a:endParaRPr lang="en-US" sz="1400" dirty="0"/>
          </a:p>
        </p:txBody>
      </p:sp>
      <p:sp>
        <p:nvSpPr>
          <p:cNvPr id="16" name="Step circle 2"/>
          <p:cNvSpPr/>
          <p:nvPr/>
        </p:nvSpPr>
        <p:spPr>
          <a:xfrm>
            <a:off x="4846320" y="277977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3" descr="2. Summarise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94436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69280" y="2670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Summarise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0" y="30358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Used pivot tables to add up sales, profit and quantity.</a:t>
            </a:r>
            <a:endParaRPr lang="en-US" sz="1400" dirty="0"/>
          </a:p>
        </p:txBody>
      </p:sp>
      <p:sp>
        <p:nvSpPr>
          <p:cNvPr id="20" name="Step circle 3"/>
          <p:cNvSpPr/>
          <p:nvPr/>
        </p:nvSpPr>
        <p:spPr>
          <a:xfrm>
            <a:off x="4846320" y="375818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4" descr="3. Visuali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92277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669280" y="3648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Visualise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5669280" y="40142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Turned the numbers into simple charts and a dashboard.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is the big picture?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457200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Total sale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3441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$2.30M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Total sales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2542032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1" descr="Total profi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624" y="13441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06624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$286K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2706624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Total profit</a:t>
            </a:r>
            <a:endParaRPr lang="en-US" sz="1400" dirty="0"/>
          </a:p>
        </p:txBody>
      </p:sp>
      <p:sp>
        <p:nvSpPr>
          <p:cNvPr id="11" name="KPI card 3"/>
          <p:cNvSpPr/>
          <p:nvPr/>
        </p:nvSpPr>
        <p:spPr>
          <a:xfrm>
            <a:off x="4626864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Profit margi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13441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91456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12.5%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4791456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Profit margin</a:t>
            </a:r>
            <a:endParaRPr lang="en-US" sz="1400" dirty="0"/>
          </a:p>
        </p:txBody>
      </p:sp>
      <p:sp>
        <p:nvSpPr>
          <p:cNvPr id="15" name="KPI card 4"/>
          <p:cNvSpPr/>
          <p:nvPr/>
        </p:nvSpPr>
        <p:spPr>
          <a:xfrm>
            <a:off x="6711696" y="118872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3" descr="Items sol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88" y="134416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76288" y="1645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37,873</a:t>
            </a:r>
            <a:endParaRPr lang="en-US" sz="3200" dirty="0"/>
          </a:p>
        </p:txBody>
      </p:sp>
      <p:sp>
        <p:nvSpPr>
          <p:cNvPr id="18" name="Text 12"/>
          <p:cNvSpPr txBox="1"/>
          <p:nvPr/>
        </p:nvSpPr>
        <p:spPr>
          <a:xfrm>
            <a:off x="6876288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Items sold</a:t>
            </a:r>
            <a:endParaRPr lang="en-US" sz="14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2697480"/>
          <a:ext cx="4206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0" name="Takeaway card"/>
          <p:cNvSpPr/>
          <p:nvPr/>
        </p:nvSpPr>
        <p:spPr>
          <a:xfrm>
            <a:off x="4846320" y="2788920"/>
            <a:ext cx="3840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502920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 simple words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5029200" y="32918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For every $100 we sell, we keep only about $12.50 as profit. Half of the sales come from Consumer customers.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has the business grown?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1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headline 1"/>
          <p:cNvSpPr txBox="1"/>
          <p:nvPr/>
        </p:nvSpPr>
        <p:spPr>
          <a:xfrm>
            <a:off x="5833872" y="1252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+52%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5833872" y="162763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Sales grew from $484K in 2011 to $734K in 2014.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566928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headline 2"/>
          <p:cNvSpPr txBox="1"/>
          <p:nvPr/>
        </p:nvSpPr>
        <p:spPr>
          <a:xfrm>
            <a:off x="5833872" y="24414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+89%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5833872" y="28163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Profit almost doubled, from $49.5K to $93.5K.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5669280" y="35661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headline 3"/>
          <p:cNvSpPr txBox="1"/>
          <p:nvPr/>
        </p:nvSpPr>
        <p:spPr>
          <a:xfrm>
            <a:off x="5833872" y="36301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12.7%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5833872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Profit margin in 2014, up from 10.2% in 2011.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When do customers buy the most?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1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headline 1"/>
          <p:cNvSpPr txBox="1"/>
          <p:nvPr/>
        </p:nvSpPr>
        <p:spPr>
          <a:xfrm>
            <a:off x="5833872" y="1252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Nov, Dec, Sep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5833872" y="162763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3 busiest months bring in 43% of all sales.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566928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headline 2"/>
          <p:cNvSpPr txBox="1"/>
          <p:nvPr/>
        </p:nvSpPr>
        <p:spPr>
          <a:xfrm>
            <a:off x="5833872" y="24414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38%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5833872" y="28163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yearly sales happen in Q4 (Oct to Dec).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5669280" y="35661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headline 3"/>
          <p:cNvSpPr txBox="1"/>
          <p:nvPr/>
        </p:nvSpPr>
        <p:spPr>
          <a:xfrm>
            <a:off x="5833872" y="36301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Feb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5833872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is the quietest month, with only $60K in sales.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do we sell the most?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1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headline 1"/>
          <p:cNvSpPr txBox="1"/>
          <p:nvPr/>
        </p:nvSpPr>
        <p:spPr>
          <a:xfrm>
            <a:off x="5833872" y="1252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West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5833872" y="162763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Number 1: $725K in sales and the best margin, 14.9%.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566928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headline 2"/>
          <p:cNvSpPr txBox="1"/>
          <p:nvPr/>
        </p:nvSpPr>
        <p:spPr>
          <a:xfrm>
            <a:off x="5833872" y="24414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East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5833872" y="28163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Strong too: $679K in sales with a 13.5% margin.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5669280" y="35661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headline 3"/>
          <p:cNvSpPr txBox="1"/>
          <p:nvPr/>
        </p:nvSpPr>
        <p:spPr>
          <a:xfrm>
            <a:off x="5833872" y="36301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Central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5833872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Sells $501K but keeps only 7.9%, the weakest margin.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do we sell, and what earns?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1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headline 1"/>
          <p:cNvSpPr txBox="1"/>
          <p:nvPr/>
        </p:nvSpPr>
        <p:spPr>
          <a:xfrm>
            <a:off x="5833872" y="1252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Technology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5833872" y="162763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Top seller: $836K in sales and $145K in profit.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566928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headline 2"/>
          <p:cNvSpPr txBox="1"/>
          <p:nvPr/>
        </p:nvSpPr>
        <p:spPr>
          <a:xfrm>
            <a:off x="5833872" y="24414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Office Supplies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5833872" y="28163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Most items sold, with $122K profit (17% margin).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5669280" y="35661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headline 3"/>
          <p:cNvSpPr txBox="1"/>
          <p:nvPr/>
        </p:nvSpPr>
        <p:spPr>
          <a:xfrm>
            <a:off x="5833872" y="36301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Furniture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5833872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$742K in sales but only $18K profit, a 2.5% margin.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Which products lose money?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1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headline 1"/>
          <p:cNvSpPr txBox="1"/>
          <p:nvPr/>
        </p:nvSpPr>
        <p:spPr>
          <a:xfrm>
            <a:off x="5833872" y="1252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Tables: -$17.7K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5833872" y="162763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biggest loser, even with $207K of sales.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566928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headline 2"/>
          <p:cNvSpPr txBox="1"/>
          <p:nvPr/>
        </p:nvSpPr>
        <p:spPr>
          <a:xfrm>
            <a:off x="5833872" y="24414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Bookcases, Supplies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5833872" y="28163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Also lose money: $3.5K and $1.2K.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5669280" y="35661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headline 3"/>
          <p:cNvSpPr txBox="1"/>
          <p:nvPr/>
        </p:nvSpPr>
        <p:spPr>
          <a:xfrm>
            <a:off x="5833872" y="36301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Copiers: +$55.6K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5833872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234 items sold, yet the top profit maker.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Why are we losing profit? Discounts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1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headline 1"/>
          <p:cNvSpPr txBox="1"/>
          <p:nvPr/>
        </p:nvSpPr>
        <p:spPr>
          <a:xfrm>
            <a:off x="5833872" y="1252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0% discount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5833872" y="162763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Earns $321K profit, a healthy 29.5% margin.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566928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headline 2"/>
          <p:cNvSpPr txBox="1"/>
          <p:nvPr/>
        </p:nvSpPr>
        <p:spPr>
          <a:xfrm>
            <a:off x="5833872" y="24414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Above 20%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5833872" y="28163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sale with a bigger discount loses money: $135K lost in total.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5669280" y="35661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headline 3"/>
          <p:cNvSpPr txBox="1"/>
          <p:nvPr/>
        </p:nvSpPr>
        <p:spPr>
          <a:xfrm>
            <a:off x="5833872" y="36301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1 in 5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5833872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order lines end in a loss (19% of all lines).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are the problem states?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0292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 1"/>
          <p:cNvSpPr/>
          <p:nvPr/>
        </p:nvSpPr>
        <p:spPr>
          <a:xfrm>
            <a:off x="5669280" y="118872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headline 1"/>
          <p:cNvSpPr txBox="1"/>
          <p:nvPr/>
        </p:nvSpPr>
        <p:spPr>
          <a:xfrm>
            <a:off x="5833872" y="125272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Texas: -$25.7K</a:t>
            </a:r>
            <a:endParaRPr lang="en-US" sz="2200" dirty="0"/>
          </a:p>
        </p:txBody>
      </p:sp>
      <p:sp>
        <p:nvSpPr>
          <p:cNvPr id="6" name="Card text 1"/>
          <p:cNvSpPr txBox="1"/>
          <p:nvPr/>
        </p:nvSpPr>
        <p:spPr>
          <a:xfrm>
            <a:off x="5833872" y="162763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Sells $170K, yet loses money. Ohio, Pennsylvania and Illinois lose too.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5669280" y="237744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headline 2"/>
          <p:cNvSpPr txBox="1"/>
          <p:nvPr/>
        </p:nvSpPr>
        <p:spPr>
          <a:xfrm>
            <a:off x="5833872" y="24414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The reason?</a:t>
            </a:r>
            <a:endParaRPr lang="en-US" sz="2200" dirty="0"/>
          </a:p>
        </p:txBody>
      </p:sp>
      <p:sp>
        <p:nvSpPr>
          <p:cNvPr id="9" name="Card text 2"/>
          <p:cNvSpPr txBox="1"/>
          <p:nvPr/>
        </p:nvSpPr>
        <p:spPr>
          <a:xfrm>
            <a:off x="5833872" y="281635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Their average discount is 33% to 39%. California's is 7%.</a:t>
            </a:r>
            <a:endParaRPr lang="en-US" sz="1400" dirty="0"/>
          </a:p>
        </p:txBody>
      </p:sp>
      <p:sp>
        <p:nvSpPr>
          <p:cNvPr id="10" name="Card 3"/>
          <p:cNvSpPr/>
          <p:nvPr/>
        </p:nvSpPr>
        <p:spPr>
          <a:xfrm>
            <a:off x="5669280" y="3566160"/>
            <a:ext cx="30175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headline 3"/>
          <p:cNvSpPr txBox="1"/>
          <p:nvPr/>
        </p:nvSpPr>
        <p:spPr>
          <a:xfrm>
            <a:off x="5833872" y="363016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CA + NY</a:t>
            </a:r>
            <a:endParaRPr lang="en-US" sz="2200" dirty="0"/>
          </a:p>
        </p:txBody>
      </p:sp>
      <p:sp>
        <p:nvSpPr>
          <p:cNvPr id="12" name="Card text 3"/>
          <p:cNvSpPr txBox="1"/>
          <p:nvPr/>
        </p:nvSpPr>
        <p:spPr>
          <a:xfrm>
            <a:off x="5833872" y="400507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California and New York make $150K, over half of all profit.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should we do next?</a:t>
            </a:r>
            <a:endParaRPr lang="en-US" sz="3200" dirty="0"/>
          </a:p>
        </p:txBody>
      </p:sp>
      <p:sp>
        <p:nvSpPr>
          <p:cNvPr id="3" name="Action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tion icon circl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Cap discounts at 20%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5819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Cap discounts at 20%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Stop deep discounts. Anything above 20% loses money.</a:t>
            </a:r>
            <a:endParaRPr lang="en-US" sz="1400" dirty="0"/>
          </a:p>
        </p:txBody>
      </p:sp>
      <p:sp>
        <p:nvSpPr>
          <p:cNvPr id="8" name="Action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ction icon circle 2"/>
          <p:cNvSpPr/>
          <p:nvPr/>
        </p:nvSpPr>
        <p:spPr>
          <a:xfrm>
            <a:off x="484632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Fix Furnitur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5819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Fix Furniture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 prices and costs of Tables and Bookcases.</a:t>
            </a:r>
            <a:endParaRPr lang="en-US" sz="1400" dirty="0"/>
          </a:p>
        </p:txBody>
      </p:sp>
      <p:sp>
        <p:nvSpPr>
          <p:cNvPr id="13" name="Action card 3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ction icon circle 3"/>
          <p:cNvSpPr/>
          <p:nvPr/>
        </p:nvSpPr>
        <p:spPr>
          <a:xfrm>
            <a:off x="640080" y="315468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Back the winn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3192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 the winners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Promote Copiers, Phones, Accessories and Paper.</a:t>
            </a:r>
            <a:endParaRPr lang="en-US" sz="1400" dirty="0"/>
          </a:p>
        </p:txBody>
      </p:sp>
      <p:sp>
        <p:nvSpPr>
          <p:cNvPr id="18" name="Action card 4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ction icon circle 4"/>
          <p:cNvSpPr/>
          <p:nvPr/>
        </p:nvSpPr>
        <p:spPr>
          <a:xfrm>
            <a:off x="4846320" y="3154680"/>
            <a:ext cx="640080" cy="6400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3" descr="Plan for peak month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3192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108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 for peak months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886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Stock up for Sep, Nov and Dec, the busiest months.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965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Any questions?</a:t>
            </a:r>
            <a:endParaRPr lang="en-US" sz="2000" dirty="0"/>
          </a:p>
        </p:txBody>
      </p:sp>
      <p:sp>
        <p:nvSpPr>
          <p:cNvPr id="4" name="Team names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</a:rPr>
              <a:t>   </a:t>
            </a:r>
            <a:r>
              <a:rPr lang="en-US" sz="1800" b="1" dirty="0">
                <a:solidFill>
                  <a:schemeClr val="accent2"/>
                </a:solidFill>
              </a:rPr>
              <a:t>Mahendra Singh Rathore</a:t>
            </a:r>
            <a:endParaRPr lang="en-US" sz="1800" dirty="0"/>
          </a:p>
        </p:txBody>
      </p:sp>
      <p:sp>
        <p:nvSpPr>
          <p:cNvPr id="5" name="Project name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highlight>
                  <a:srgbClr val="FFFF00"/>
                </a:highlight>
              </a:rPr>
              <a:t>Super Store Sales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ivartan">
  <a:themeElements>
    <a:clrScheme name="Parivartan">
      <a:dk1>
        <a:srgbClr val="1F2933"/>
      </a:dk1>
      <a:lt1>
        <a:srgbClr val="FFFFFF"/>
      </a:lt1>
      <a:dk2>
        <a:srgbClr val="0B3C49"/>
      </a:dk2>
      <a:lt2>
        <a:srgbClr val="EAF1F2"/>
      </a:lt2>
      <a:accent1>
        <a:srgbClr val="0E6E7E"/>
      </a:accent1>
      <a:accent2>
        <a:srgbClr val="F2A541"/>
      </a:accent2>
      <a:accent3>
        <a:srgbClr val="C8553D"/>
      </a:accent3>
      <a:accent4>
        <a:srgbClr val="3F7A66"/>
      </a:accent4>
      <a:accent5>
        <a:srgbClr val="6B7B88"/>
      </a:accent5>
      <a:accent6>
        <a:srgbClr val="2E4057"/>
      </a:accent6>
      <a:hlink>
        <a:srgbClr val="0E6E7E"/>
      </a:hlink>
      <a:folHlink>
        <a:srgbClr val="6B7B88"/>
      </a:folHlink>
    </a:clrScheme>
    <a:fontScheme name="Parivarta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1014</Words>
  <Application>Microsoft Office PowerPoint</Application>
  <PresentationFormat>On-screen Show (16:9)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Parivartan</vt:lpstr>
      <vt:lpstr>Super Store Sales Analysis</vt:lpstr>
      <vt:lpstr>Why this project? How did we do it?</vt:lpstr>
      <vt:lpstr>What is the big picture?</vt:lpstr>
      <vt:lpstr>How has the business grown?</vt:lpstr>
      <vt:lpstr>When do customers buy the most?</vt:lpstr>
      <vt:lpstr>Where do we sell the most?</vt:lpstr>
      <vt:lpstr>What do we sell, and what earns?</vt:lpstr>
      <vt:lpstr>Which products lose money?</vt:lpstr>
      <vt:lpstr>Why are we losing profit? Discounts</vt:lpstr>
      <vt:lpstr>Where are the problem states?</vt:lpstr>
      <vt:lpstr>What should we do next?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Parivartan - Sales &amp; Profit Analysis</dc:title>
  <dc:subject>PptxGenJS Presentation</dc:subject>
  <dc:creator>Kailash Choudhary, Ankit Bagel, Mahendra Singh Rajput</dc:creator>
  <cp:lastModifiedBy>ambuja foundation</cp:lastModifiedBy>
  <cp:revision>3</cp:revision>
  <dcterms:created xsi:type="dcterms:W3CDTF">2026-10-12T11:20:58Z</dcterms:created>
  <dcterms:modified xsi:type="dcterms:W3CDTF">2026-10-14T10:26:57Z</dcterms:modified>
</cp:coreProperties>
</file>